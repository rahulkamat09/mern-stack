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467" y="65"/>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7927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832104" y="2057400"/>
            <a:ext cx="12984480" cy="2286000"/>
          </a:xfrm>
          <a:prstGeom prst="rect">
            <a:avLst/>
          </a:prstGeom>
          <a:noFill/>
          <a:ln/>
        </p:spPr>
        <p:txBody>
          <a:bodyPr wrap="square" lIns="0" tIns="0" rIns="0" bIns="0" rtlCol="0" anchor="ctr"/>
          <a:lstStyle/>
          <a:p>
            <a:pPr marL="0" indent="0" algn="l">
              <a:lnSpc>
                <a:spcPts val="8970"/>
              </a:lnSpc>
              <a:buNone/>
            </a:pPr>
            <a:r>
              <a:rPr lang="en-US" sz="6410" dirty="0">
                <a:solidFill>
                  <a:srgbClr val="3A6DDA"/>
                </a:solidFill>
                <a:latin typeface="思源黑体-思源黑体-Regular" pitchFamily="34" charset="0"/>
                <a:ea typeface="思源黑体-思源黑体-Regular" pitchFamily="34" charset="-122"/>
                <a:cs typeface="思源黑体-思源黑体-Regular" pitchFamily="34" charset="-120"/>
              </a:rPr>
              <a:t>MERN Stack Development Overview</a:t>
            </a:r>
            <a:endParaRPr lang="en-US" sz="6410" dirty="0"/>
          </a:p>
        </p:txBody>
      </p:sp>
      <p:sp>
        <p:nvSpPr>
          <p:cNvPr id="5" name="Text 1"/>
          <p:cNvSpPr/>
          <p:nvPr/>
        </p:nvSpPr>
        <p:spPr>
          <a:xfrm>
            <a:off x="832104" y="4599432"/>
            <a:ext cx="12984480" cy="1325880"/>
          </a:xfrm>
          <a:prstGeom prst="rect">
            <a:avLst/>
          </a:prstGeom>
          <a:noFill/>
          <a:ln/>
        </p:spPr>
        <p:txBody>
          <a:bodyPr wrap="square" lIns="0" tIns="0" rIns="0" bIns="0" rtlCol="0" anchor="ctr"/>
          <a:lstStyle/>
          <a:p>
            <a:pPr marL="0" indent="0" algn="l">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The MERN stack is a powerful web development framework that integrates four key technologies: MongoDB, Express.js, React, and Node.js. Together, these components enable developers to build dynamic and robust web applications. This presentation explores each part of the stack, highlighting their individual roles and how they collaborate to enhance the development process.</a:t>
            </a:r>
            <a:endParaRPr lang="en-US" sz="1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sp>
        <p:nvSpPr>
          <p:cNvPr id="3" name="Text 0"/>
          <p:cNvSpPr/>
          <p:nvPr/>
        </p:nvSpPr>
        <p:spPr>
          <a:xfrm>
            <a:off x="832104" y="911831"/>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3A6DDA"/>
                </a:solidFill>
                <a:latin typeface="思源黑体-思源黑体-Regular" pitchFamily="34" charset="0"/>
                <a:ea typeface="思源黑体-思源黑体-Regular" pitchFamily="34" charset="-122"/>
                <a:cs typeface="思源黑体-思源黑体-Regular" pitchFamily="34" charset="-120"/>
              </a:rPr>
              <a:t>Self Introduction</a:t>
            </a:r>
            <a:endParaRPr lang="en-US" sz="4640" dirty="0"/>
          </a:p>
        </p:txBody>
      </p:sp>
      <p:sp>
        <p:nvSpPr>
          <p:cNvPr id="4" name="Text 1"/>
          <p:cNvSpPr/>
          <p:nvPr/>
        </p:nvSpPr>
        <p:spPr>
          <a:xfrm>
            <a:off x="832104" y="2679192"/>
            <a:ext cx="12984480" cy="3968496"/>
          </a:xfrm>
          <a:prstGeom prst="rect">
            <a:avLst/>
          </a:prstGeom>
          <a:noFill/>
          <a:ln/>
        </p:spPr>
        <p:txBody>
          <a:bodyPr wrap="square" lIns="0" tIns="0" rIns="0" bIns="0" rtlCol="0" anchor="ctr"/>
          <a:lstStyle/>
          <a:p>
            <a:pPr marL="0" indent="0" algn="l">
              <a:lnSpc>
                <a:spcPts val="2600"/>
              </a:lnSpc>
              <a:buNone/>
            </a:pPr>
            <a:endParaRPr lang="en-US" sz="1850" dirty="0"/>
          </a:p>
        </p:txBody>
      </p:sp>
      <p:sp>
        <p:nvSpPr>
          <p:cNvPr id="6" name="TextBox 5">
            <a:extLst>
              <a:ext uri="{FF2B5EF4-FFF2-40B4-BE49-F238E27FC236}">
                <a16:creationId xmlns:a16="http://schemas.microsoft.com/office/drawing/2014/main" id="{00E76C7E-37E3-9AB8-6CEA-6A72B6AC91CE}"/>
              </a:ext>
            </a:extLst>
          </p:cNvPr>
          <p:cNvSpPr txBox="1"/>
          <p:nvPr/>
        </p:nvSpPr>
        <p:spPr>
          <a:xfrm>
            <a:off x="832104" y="1847284"/>
            <a:ext cx="10387173" cy="5632311"/>
          </a:xfrm>
          <a:prstGeom prst="rect">
            <a:avLst/>
          </a:prstGeom>
          <a:noFill/>
        </p:spPr>
        <p:txBody>
          <a:bodyPr wrap="square" rtlCol="0">
            <a:spAutoFit/>
          </a:bodyPr>
          <a:lstStyle/>
          <a:p>
            <a:r>
              <a:rPr lang="en-IN" dirty="0"/>
              <a:t> </a:t>
            </a:r>
            <a:r>
              <a:rPr lang="en-US" dirty="0"/>
              <a:t>Hello, my name is </a:t>
            </a:r>
            <a:r>
              <a:rPr lang="en-US" b="1" dirty="0"/>
              <a:t>Rahul Kamat</a:t>
            </a:r>
            <a:r>
              <a:rPr lang="en-US" dirty="0"/>
              <a:t>, and I’m based in </a:t>
            </a:r>
            <a:r>
              <a:rPr lang="en-US" b="1" dirty="0"/>
              <a:t>Ahmedabad</a:t>
            </a:r>
            <a:r>
              <a:rPr lang="en-US" dirty="0"/>
              <a:t>. </a:t>
            </a:r>
          </a:p>
          <a:p>
            <a:endParaRPr lang="en-US" dirty="0"/>
          </a:p>
          <a:p>
            <a:r>
              <a:rPr lang="en-US" dirty="0"/>
              <a:t>I have completed my </a:t>
            </a:r>
            <a:r>
              <a:rPr lang="en-US" b="1" dirty="0"/>
              <a:t>Bachelor of Computer Applications (BCA)</a:t>
            </a:r>
            <a:r>
              <a:rPr lang="en-US" dirty="0"/>
              <a:t> and I am currently pursuing </a:t>
            </a:r>
            <a:r>
              <a:rPr lang="en-US" b="1" dirty="0"/>
              <a:t>MERN Stack          Development training at TOPS Technologies</a:t>
            </a:r>
            <a:r>
              <a:rPr lang="en-US" dirty="0"/>
              <a:t>.</a:t>
            </a:r>
          </a:p>
          <a:p>
            <a:endParaRPr lang="en-US" dirty="0"/>
          </a:p>
          <a:p>
            <a:r>
              <a:rPr lang="en-US" dirty="0"/>
              <a:t>I am a </a:t>
            </a:r>
            <a:r>
              <a:rPr lang="en-US" b="1" dirty="0"/>
              <a:t>passionate and detail-oriented MERN Stack Developer</a:t>
            </a:r>
            <a:r>
              <a:rPr lang="en-US" dirty="0"/>
              <a:t> with a strong foundation in both </a:t>
            </a:r>
            <a:r>
              <a:rPr lang="en-US" b="1" dirty="0"/>
              <a:t>frontend and backend technologies</a:t>
            </a:r>
            <a:r>
              <a:rPr lang="en-US" dirty="0"/>
              <a:t> including </a:t>
            </a:r>
            <a:r>
              <a:rPr lang="en-US" b="1" dirty="0"/>
              <a:t>React.js, Node.js, Express.js, MongoDB, HTML, CSS, and Bootstrap</a:t>
            </a:r>
            <a:r>
              <a:rPr lang="en-US" dirty="0"/>
              <a:t>. I have hands-on experience building </a:t>
            </a:r>
            <a:r>
              <a:rPr lang="en-US" b="1" dirty="0"/>
              <a:t>responsive, user-friendly web applications</a:t>
            </a:r>
            <a:r>
              <a:rPr lang="en-US" dirty="0"/>
              <a:t>, and I’m comfortable working with version control tools like </a:t>
            </a:r>
            <a:r>
              <a:rPr lang="en-US" b="1" dirty="0"/>
              <a:t>Git</a:t>
            </a:r>
            <a:r>
              <a:rPr lang="en-US" dirty="0"/>
              <a:t> and deploying applications through platforms like </a:t>
            </a:r>
            <a:r>
              <a:rPr lang="en-US" b="1" dirty="0" err="1"/>
              <a:t>Vercel</a:t>
            </a:r>
            <a:r>
              <a:rPr lang="en-US" dirty="0"/>
              <a:t>.</a:t>
            </a:r>
          </a:p>
          <a:p>
            <a:endParaRPr lang="en-US" dirty="0"/>
          </a:p>
          <a:p>
            <a:r>
              <a:rPr lang="en-IN" dirty="0"/>
              <a:t>📂 </a:t>
            </a:r>
            <a:r>
              <a:rPr lang="en-IN" b="1" dirty="0"/>
              <a:t>Projects:</a:t>
            </a:r>
          </a:p>
          <a:p>
            <a:endParaRPr lang="en-IN" dirty="0"/>
          </a:p>
          <a:p>
            <a:r>
              <a:rPr lang="en-IN" dirty="0"/>
              <a:t>🛒 </a:t>
            </a:r>
            <a:r>
              <a:rPr lang="en-IN" b="1" dirty="0"/>
              <a:t>E-commerce Website</a:t>
            </a:r>
            <a:r>
              <a:rPr lang="en-IN" dirty="0"/>
              <a:t> – User-focused, responsive design</a:t>
            </a:r>
          </a:p>
          <a:p>
            <a:endParaRPr lang="en-IN" dirty="0"/>
          </a:p>
          <a:p>
            <a:r>
              <a:rPr lang="en-IN" dirty="0"/>
              <a:t>🤖 </a:t>
            </a:r>
            <a:r>
              <a:rPr lang="en-IN" b="1" dirty="0"/>
              <a:t>AI Chatbot</a:t>
            </a:r>
            <a:r>
              <a:rPr lang="en-IN" dirty="0"/>
              <a:t> – Interactive chat system with smart responses</a:t>
            </a:r>
          </a:p>
          <a:p>
            <a:endParaRPr lang="en-IN" dirty="0"/>
          </a:p>
          <a:p>
            <a:r>
              <a:rPr lang="en-IN" dirty="0"/>
              <a:t>🔥 </a:t>
            </a:r>
            <a:r>
              <a:rPr lang="en-IN" b="1" dirty="0"/>
              <a:t>IoT-based Fire Alarm System</a:t>
            </a:r>
            <a:r>
              <a:rPr lang="en-IN" dirty="0"/>
              <a:t> – Real-time sensor alerts and notifications</a:t>
            </a:r>
          </a:p>
          <a:p>
            <a:endParaRPr lang="en-US" dirty="0"/>
          </a:p>
          <a:p>
            <a:r>
              <a:rPr lang="en-IN" dirty="0"/>
              <a:t>🌱</a:t>
            </a:r>
            <a:r>
              <a:rPr lang="en-US" dirty="0"/>
              <a:t>I am constantly working to sharpen my skills and stay updated with the latest web technologies, with a strong focus on writing clean, scalable code and delivering quality solutions.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3044952"/>
          </a:xfrm>
          <a:prstGeom prst="rect">
            <a:avLst/>
          </a:prstGeom>
        </p:spPr>
      </p:pic>
      <p:sp>
        <p:nvSpPr>
          <p:cNvPr id="4" name="Text 0"/>
          <p:cNvSpPr/>
          <p:nvPr/>
        </p:nvSpPr>
        <p:spPr>
          <a:xfrm>
            <a:off x="832104" y="3456432"/>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3A6DDA"/>
                </a:solidFill>
                <a:latin typeface="思源黑体-思源黑体-Regular" pitchFamily="34" charset="0"/>
                <a:ea typeface="思源黑体-思源黑体-Regular" pitchFamily="34" charset="-122"/>
                <a:cs typeface="思源黑体-思源黑体-Regular" pitchFamily="34" charset="-120"/>
              </a:rPr>
              <a:t>Understanding the MERN Stack</a:t>
            </a:r>
            <a:endParaRPr lang="en-US" sz="4640" dirty="0"/>
          </a:p>
        </p:txBody>
      </p:sp>
      <p:sp>
        <p:nvSpPr>
          <p:cNvPr id="5" name="Text 1"/>
          <p:cNvSpPr/>
          <p:nvPr/>
        </p:nvSpPr>
        <p:spPr>
          <a:xfrm>
            <a:off x="1078992" y="4681728"/>
            <a:ext cx="3831336" cy="420624"/>
          </a:xfrm>
          <a:prstGeom prst="rect">
            <a:avLst/>
          </a:prstGeom>
          <a:noFill/>
          <a:ln/>
        </p:spPr>
        <p:txBody>
          <a:bodyPr wrap="none" lIns="0" tIns="0" rIns="0" bIns="0" rtlCol="0" anchor="ctr"/>
          <a:lstStyle/>
          <a:p>
            <a:pPr marL="0" indent="0" algn="l">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Definition</a:t>
            </a:r>
            <a:endParaRPr lang="en-US" sz="2320" dirty="0"/>
          </a:p>
        </p:txBody>
      </p:sp>
      <p:sp>
        <p:nvSpPr>
          <p:cNvPr id="6" name="Text 2"/>
          <p:cNvSpPr/>
          <p:nvPr/>
        </p:nvSpPr>
        <p:spPr>
          <a:xfrm>
            <a:off x="1078992" y="5230368"/>
            <a:ext cx="3831336" cy="667512"/>
          </a:xfrm>
          <a:prstGeom prst="rect">
            <a:avLst/>
          </a:prstGeom>
          <a:noFill/>
          <a:ln/>
        </p:spPr>
        <p:txBody>
          <a:bodyPr wrap="square" lIns="0" tIns="0" rIns="0" bIns="0" rtlCol="0" anchor="ctr"/>
          <a:lstStyle/>
          <a:p>
            <a:pPr marL="0" indent="0" algn="l">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MERN is a full-stack JavaScript framework for web applications.</a:t>
            </a:r>
            <a:endParaRPr lang="en-US" sz="1850" dirty="0"/>
          </a:p>
        </p:txBody>
      </p:sp>
      <p:sp>
        <p:nvSpPr>
          <p:cNvPr id="7" name="Text 3"/>
          <p:cNvSpPr/>
          <p:nvPr/>
        </p:nvSpPr>
        <p:spPr>
          <a:xfrm>
            <a:off x="5404104" y="4681728"/>
            <a:ext cx="3831336" cy="420624"/>
          </a:xfrm>
          <a:prstGeom prst="rect">
            <a:avLst/>
          </a:prstGeom>
          <a:noFill/>
          <a:ln/>
        </p:spPr>
        <p:txBody>
          <a:bodyPr wrap="none" lIns="0" tIns="0" rIns="0" bIns="0" rtlCol="0" anchor="ctr"/>
          <a:lstStyle/>
          <a:p>
            <a:pPr marL="0" indent="0" algn="l">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Components</a:t>
            </a:r>
            <a:endParaRPr lang="en-US" sz="2320" dirty="0"/>
          </a:p>
        </p:txBody>
      </p:sp>
      <p:sp>
        <p:nvSpPr>
          <p:cNvPr id="8" name="Text 4"/>
          <p:cNvSpPr/>
          <p:nvPr/>
        </p:nvSpPr>
        <p:spPr>
          <a:xfrm>
            <a:off x="5404104" y="5230368"/>
            <a:ext cx="3831336" cy="667512"/>
          </a:xfrm>
          <a:prstGeom prst="rect">
            <a:avLst/>
          </a:prstGeom>
          <a:noFill/>
          <a:ln/>
        </p:spPr>
        <p:txBody>
          <a:bodyPr wrap="square" lIns="0" tIns="0" rIns="0" bIns="0" rtlCol="0" anchor="ctr"/>
          <a:lstStyle/>
          <a:p>
            <a:pPr marL="0" indent="0" algn="l">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Includes MongoDB, Express.js, React, and Node.js.</a:t>
            </a:r>
            <a:endParaRPr lang="en-US" sz="1850" dirty="0"/>
          </a:p>
        </p:txBody>
      </p:sp>
      <p:sp>
        <p:nvSpPr>
          <p:cNvPr id="9" name="Text 5"/>
          <p:cNvSpPr/>
          <p:nvPr/>
        </p:nvSpPr>
        <p:spPr>
          <a:xfrm>
            <a:off x="9729216" y="4681728"/>
            <a:ext cx="3831336" cy="420624"/>
          </a:xfrm>
          <a:prstGeom prst="rect">
            <a:avLst/>
          </a:prstGeom>
          <a:noFill/>
          <a:ln/>
        </p:spPr>
        <p:txBody>
          <a:bodyPr wrap="none" lIns="0" tIns="0" rIns="0" bIns="0" rtlCol="0" anchor="ctr"/>
          <a:lstStyle/>
          <a:p>
            <a:pPr marL="0" indent="0" algn="l">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Popularity</a:t>
            </a:r>
            <a:endParaRPr lang="en-US" sz="2320" dirty="0"/>
          </a:p>
        </p:txBody>
      </p:sp>
      <p:sp>
        <p:nvSpPr>
          <p:cNvPr id="10" name="Text 6"/>
          <p:cNvSpPr/>
          <p:nvPr/>
        </p:nvSpPr>
        <p:spPr>
          <a:xfrm>
            <a:off x="9729216" y="5230368"/>
            <a:ext cx="3831336" cy="667512"/>
          </a:xfrm>
          <a:prstGeom prst="rect">
            <a:avLst/>
          </a:prstGeom>
          <a:noFill/>
          <a:ln/>
        </p:spPr>
        <p:txBody>
          <a:bodyPr wrap="square" lIns="0" tIns="0" rIns="0" bIns="0" rtlCol="0" anchor="ctr"/>
          <a:lstStyle/>
          <a:p>
            <a:pPr marL="0" indent="0" algn="l">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Widely adopted for its flexibility and speed.</a:t>
            </a:r>
            <a:endParaRPr lang="en-US" sz="1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714232"/>
          </a:xfrm>
          <a:prstGeom prst="rect">
            <a:avLst/>
          </a:prstGeom>
        </p:spPr>
      </p:pic>
      <p:pic>
        <p:nvPicPr>
          <p:cNvPr id="3" name="Image 1" descr="preencoded.png"/>
          <p:cNvPicPr>
            <a:picLocks noChangeAspect="1"/>
          </p:cNvPicPr>
          <p:nvPr/>
        </p:nvPicPr>
        <p:blipFill>
          <a:blip r:embed="rId4"/>
          <a:stretch>
            <a:fillRect/>
          </a:stretch>
        </p:blipFill>
        <p:spPr>
          <a:xfrm>
            <a:off x="2779776" y="1874520"/>
            <a:ext cx="2423160" cy="1600200"/>
          </a:xfrm>
          <a:prstGeom prst="rect">
            <a:avLst/>
          </a:prstGeom>
        </p:spPr>
      </p:pic>
      <p:pic>
        <p:nvPicPr>
          <p:cNvPr id="4" name="Image 2" descr="preencoded.png"/>
          <p:cNvPicPr>
            <a:picLocks noChangeAspect="1"/>
          </p:cNvPicPr>
          <p:nvPr/>
        </p:nvPicPr>
        <p:blipFill>
          <a:blip r:embed="rId5"/>
          <a:stretch>
            <a:fillRect/>
          </a:stretch>
        </p:blipFill>
        <p:spPr>
          <a:xfrm>
            <a:off x="2779776" y="5212080"/>
            <a:ext cx="2423160" cy="1600200"/>
          </a:xfrm>
          <a:prstGeom prst="rect">
            <a:avLst/>
          </a:prstGeom>
        </p:spPr>
      </p:pic>
      <p:pic>
        <p:nvPicPr>
          <p:cNvPr id="5" name="Image 3" descr="preencoded.png"/>
          <p:cNvPicPr>
            <a:picLocks noChangeAspect="1"/>
          </p:cNvPicPr>
          <p:nvPr/>
        </p:nvPicPr>
        <p:blipFill>
          <a:blip r:embed="rId6"/>
          <a:stretch>
            <a:fillRect/>
          </a:stretch>
        </p:blipFill>
        <p:spPr>
          <a:xfrm>
            <a:off x="9445752" y="1874520"/>
            <a:ext cx="2423160" cy="1600200"/>
          </a:xfrm>
          <a:prstGeom prst="rect">
            <a:avLst/>
          </a:prstGeom>
        </p:spPr>
      </p:pic>
      <p:pic>
        <p:nvPicPr>
          <p:cNvPr id="6" name="Image 4" descr="preencoded.png"/>
          <p:cNvPicPr>
            <a:picLocks noChangeAspect="1"/>
          </p:cNvPicPr>
          <p:nvPr/>
        </p:nvPicPr>
        <p:blipFill>
          <a:blip r:embed="rId7"/>
          <a:stretch>
            <a:fillRect/>
          </a:stretch>
        </p:blipFill>
        <p:spPr>
          <a:xfrm>
            <a:off x="9445752" y="5212080"/>
            <a:ext cx="2423160" cy="1600200"/>
          </a:xfrm>
          <a:prstGeom prst="rect">
            <a:avLst/>
          </a:prstGeom>
        </p:spPr>
      </p:pic>
      <p:sp>
        <p:nvSpPr>
          <p:cNvPr id="7" name="Text 0"/>
          <p:cNvSpPr/>
          <p:nvPr/>
        </p:nvSpPr>
        <p:spPr>
          <a:xfrm>
            <a:off x="832104" y="649224"/>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3A6DDA"/>
                </a:solidFill>
                <a:latin typeface="思源黑体-思源黑体-Regular" pitchFamily="34" charset="0"/>
                <a:ea typeface="思源黑体-思源黑体-Regular" pitchFamily="34" charset="-122"/>
                <a:cs typeface="思源黑体-思源黑体-Regular" pitchFamily="34" charset="-120"/>
              </a:rPr>
              <a:t>MERN Stack Components</a:t>
            </a:r>
            <a:endParaRPr lang="en-US" sz="4640" dirty="0"/>
          </a:p>
        </p:txBody>
      </p:sp>
      <p:sp>
        <p:nvSpPr>
          <p:cNvPr id="8" name="Text 1"/>
          <p:cNvSpPr/>
          <p:nvPr/>
        </p:nvSpPr>
        <p:spPr>
          <a:xfrm>
            <a:off x="960120" y="3712464"/>
            <a:ext cx="6053328" cy="420624"/>
          </a:xfrm>
          <a:prstGeom prst="rect">
            <a:avLst/>
          </a:prstGeom>
          <a:noFill/>
          <a:ln/>
        </p:spPr>
        <p:txBody>
          <a:bodyPr wrap="non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MongoDB</a:t>
            </a:r>
            <a:endParaRPr lang="en-US" sz="2320" dirty="0"/>
          </a:p>
        </p:txBody>
      </p:sp>
      <p:sp>
        <p:nvSpPr>
          <p:cNvPr id="9" name="Text 2"/>
          <p:cNvSpPr/>
          <p:nvPr/>
        </p:nvSpPr>
        <p:spPr>
          <a:xfrm>
            <a:off x="960120" y="4261104"/>
            <a:ext cx="6053328" cy="338328"/>
          </a:xfrm>
          <a:prstGeom prst="rect">
            <a:avLst/>
          </a:prstGeom>
          <a:noFill/>
          <a:ln/>
        </p:spPr>
        <p:txBody>
          <a:bodyPr wrap="none" lIns="0" tIns="0" rIns="0" bIns="0" rtlCol="0" anchor="ctr"/>
          <a:lstStyle/>
          <a:p>
            <a:pPr marL="0" indent="0" algn="ct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Document-oriented NoSQL database</a:t>
            </a:r>
            <a:endParaRPr lang="en-US" sz="1850" dirty="0"/>
          </a:p>
        </p:txBody>
      </p:sp>
      <p:sp>
        <p:nvSpPr>
          <p:cNvPr id="10" name="Text 3"/>
          <p:cNvSpPr/>
          <p:nvPr/>
        </p:nvSpPr>
        <p:spPr>
          <a:xfrm>
            <a:off x="960120" y="7050024"/>
            <a:ext cx="6053328" cy="420624"/>
          </a:xfrm>
          <a:prstGeom prst="rect">
            <a:avLst/>
          </a:prstGeom>
          <a:noFill/>
          <a:ln/>
        </p:spPr>
        <p:txBody>
          <a:bodyPr wrap="non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React</a:t>
            </a:r>
            <a:endParaRPr lang="en-US" sz="2320" dirty="0"/>
          </a:p>
        </p:txBody>
      </p:sp>
      <p:sp>
        <p:nvSpPr>
          <p:cNvPr id="11" name="Text 4"/>
          <p:cNvSpPr/>
          <p:nvPr/>
        </p:nvSpPr>
        <p:spPr>
          <a:xfrm>
            <a:off x="960120" y="7598664"/>
            <a:ext cx="6053328" cy="338328"/>
          </a:xfrm>
          <a:prstGeom prst="rect">
            <a:avLst/>
          </a:prstGeom>
          <a:noFill/>
          <a:ln/>
        </p:spPr>
        <p:txBody>
          <a:bodyPr wrap="none" lIns="0" tIns="0" rIns="0" bIns="0" rtlCol="0" anchor="ctr"/>
          <a:lstStyle/>
          <a:p>
            <a:pPr marL="0" indent="0" algn="ct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JavaScript library for building UIs</a:t>
            </a:r>
            <a:endParaRPr lang="en-US" sz="1850" dirty="0"/>
          </a:p>
        </p:txBody>
      </p:sp>
      <p:sp>
        <p:nvSpPr>
          <p:cNvPr id="12" name="Text 5"/>
          <p:cNvSpPr/>
          <p:nvPr/>
        </p:nvSpPr>
        <p:spPr>
          <a:xfrm>
            <a:off x="7626096" y="3712464"/>
            <a:ext cx="6053328" cy="420624"/>
          </a:xfrm>
          <a:prstGeom prst="rect">
            <a:avLst/>
          </a:prstGeom>
          <a:noFill/>
          <a:ln/>
        </p:spPr>
        <p:txBody>
          <a:bodyPr wrap="non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Express.js</a:t>
            </a:r>
            <a:endParaRPr lang="en-US" sz="2320" dirty="0"/>
          </a:p>
        </p:txBody>
      </p:sp>
      <p:sp>
        <p:nvSpPr>
          <p:cNvPr id="13" name="Text 6"/>
          <p:cNvSpPr/>
          <p:nvPr/>
        </p:nvSpPr>
        <p:spPr>
          <a:xfrm>
            <a:off x="7626096" y="4261104"/>
            <a:ext cx="6053328" cy="338328"/>
          </a:xfrm>
          <a:prstGeom prst="rect">
            <a:avLst/>
          </a:prstGeom>
          <a:noFill/>
          <a:ln/>
        </p:spPr>
        <p:txBody>
          <a:bodyPr wrap="none" lIns="0" tIns="0" rIns="0" bIns="0" rtlCol="0" anchor="ctr"/>
          <a:lstStyle/>
          <a:p>
            <a:pPr marL="0" indent="0" algn="ct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Web application framework for Node.js</a:t>
            </a:r>
            <a:endParaRPr lang="en-US" sz="1850" dirty="0"/>
          </a:p>
        </p:txBody>
      </p:sp>
      <p:sp>
        <p:nvSpPr>
          <p:cNvPr id="14" name="Text 7"/>
          <p:cNvSpPr/>
          <p:nvPr/>
        </p:nvSpPr>
        <p:spPr>
          <a:xfrm>
            <a:off x="7626096" y="7050024"/>
            <a:ext cx="6053328" cy="420624"/>
          </a:xfrm>
          <a:prstGeom prst="rect">
            <a:avLst/>
          </a:prstGeom>
          <a:noFill/>
          <a:ln/>
        </p:spPr>
        <p:txBody>
          <a:bodyPr wrap="non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Node.js</a:t>
            </a:r>
            <a:endParaRPr lang="en-US" sz="2320" dirty="0"/>
          </a:p>
        </p:txBody>
      </p:sp>
      <p:sp>
        <p:nvSpPr>
          <p:cNvPr id="15" name="Text 8"/>
          <p:cNvSpPr/>
          <p:nvPr/>
        </p:nvSpPr>
        <p:spPr>
          <a:xfrm>
            <a:off x="7626096" y="7598664"/>
            <a:ext cx="6053328" cy="338328"/>
          </a:xfrm>
          <a:prstGeom prst="rect">
            <a:avLst/>
          </a:prstGeom>
          <a:noFill/>
          <a:ln/>
        </p:spPr>
        <p:txBody>
          <a:bodyPr wrap="none" lIns="0" tIns="0" rIns="0" bIns="0" rtlCol="0" anchor="ctr"/>
          <a:lstStyle/>
          <a:p>
            <a:pPr marL="0" indent="0" algn="ct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JavaScript runtime for server-side coding</a:t>
            </a:r>
            <a:endParaRPr lang="en-US" sz="1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5047488" y="2395728"/>
            <a:ext cx="4544568" cy="4544568"/>
          </a:xfrm>
          <a:prstGeom prst="rect">
            <a:avLst/>
          </a:prstGeom>
        </p:spPr>
      </p:pic>
      <p:pic>
        <p:nvPicPr>
          <p:cNvPr id="4" name="Image 2" descr="preencoded.png"/>
          <p:cNvPicPr>
            <a:picLocks noChangeAspect="1"/>
          </p:cNvPicPr>
          <p:nvPr/>
        </p:nvPicPr>
        <p:blipFill>
          <a:blip r:embed="rId5"/>
          <a:stretch>
            <a:fillRect/>
          </a:stretch>
        </p:blipFill>
        <p:spPr>
          <a:xfrm>
            <a:off x="5047488" y="2395728"/>
            <a:ext cx="4544568" cy="4544568"/>
          </a:xfrm>
          <a:prstGeom prst="rect">
            <a:avLst/>
          </a:prstGeom>
        </p:spPr>
      </p:pic>
      <p:pic>
        <p:nvPicPr>
          <p:cNvPr id="5" name="Image 3" descr="preencoded.png"/>
          <p:cNvPicPr>
            <a:picLocks noChangeAspect="1"/>
          </p:cNvPicPr>
          <p:nvPr/>
        </p:nvPicPr>
        <p:blipFill>
          <a:blip r:embed="rId6"/>
          <a:stretch>
            <a:fillRect/>
          </a:stretch>
        </p:blipFill>
        <p:spPr>
          <a:xfrm>
            <a:off x="5047488" y="2395728"/>
            <a:ext cx="4544568" cy="4544568"/>
          </a:xfrm>
          <a:prstGeom prst="rect">
            <a:avLst/>
          </a:prstGeom>
        </p:spPr>
      </p:pic>
      <p:sp>
        <p:nvSpPr>
          <p:cNvPr id="6" name="Text 0"/>
          <p:cNvSpPr/>
          <p:nvPr/>
        </p:nvSpPr>
        <p:spPr>
          <a:xfrm>
            <a:off x="832104" y="1197864"/>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3A6DDA"/>
                </a:solidFill>
                <a:latin typeface="思源黑体-思源黑体-Regular" pitchFamily="34" charset="0"/>
                <a:ea typeface="思源黑体-思源黑体-Regular" pitchFamily="34" charset="-122"/>
                <a:cs typeface="思源黑体-思源黑体-Regular" pitchFamily="34" charset="-120"/>
              </a:rPr>
              <a:t>MongoDB Overview</a:t>
            </a:r>
            <a:endParaRPr lang="en-US" sz="4640" dirty="0"/>
          </a:p>
        </p:txBody>
      </p:sp>
      <p:sp>
        <p:nvSpPr>
          <p:cNvPr id="7" name="Text 1"/>
          <p:cNvSpPr/>
          <p:nvPr/>
        </p:nvSpPr>
        <p:spPr>
          <a:xfrm>
            <a:off x="950976" y="3621024"/>
            <a:ext cx="3511296" cy="832104"/>
          </a:xfrm>
          <a:prstGeom prst="rect">
            <a:avLst/>
          </a:prstGeom>
          <a:noFill/>
          <a:ln/>
        </p:spPr>
        <p:txBody>
          <a:bodyPr wrap="square" lIns="0" tIns="0" rIns="0" bIns="0" rtlCol="0" anchor="ctr"/>
          <a:lstStyle/>
          <a:p>
            <a:pPr marL="0" indent="0" algn="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Document-Oriented Database</a:t>
            </a:r>
            <a:endParaRPr lang="en-US" sz="2320" dirty="0"/>
          </a:p>
        </p:txBody>
      </p:sp>
      <p:sp>
        <p:nvSpPr>
          <p:cNvPr id="8" name="Text 2"/>
          <p:cNvSpPr/>
          <p:nvPr/>
        </p:nvSpPr>
        <p:spPr>
          <a:xfrm>
            <a:off x="950976" y="4718304"/>
            <a:ext cx="3511296" cy="996696"/>
          </a:xfrm>
          <a:prstGeom prst="rect">
            <a:avLst/>
          </a:prstGeom>
          <a:noFill/>
          <a:ln/>
        </p:spPr>
        <p:txBody>
          <a:bodyPr wrap="square" lIns="0" tIns="0" rIns="0" bIns="0" rtlCol="0" anchor="ctr"/>
          <a:lstStyle/>
          <a:p>
            <a:pPr marL="0" indent="0" algn="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MongoDB is a NoSQL database that stores data in flexible, JSON-like documents.</a:t>
            </a:r>
            <a:endParaRPr lang="en-US" sz="1850" dirty="0"/>
          </a:p>
        </p:txBody>
      </p:sp>
      <p:sp>
        <p:nvSpPr>
          <p:cNvPr id="9" name="Text 3"/>
          <p:cNvSpPr/>
          <p:nvPr/>
        </p:nvSpPr>
        <p:spPr>
          <a:xfrm>
            <a:off x="6062472" y="4453128"/>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595959"/>
                </a:solidFill>
                <a:latin typeface="思源黑体-思源黑体-Regular" pitchFamily="34" charset="0"/>
                <a:ea typeface="思源黑体-思源黑体-Regular" pitchFamily="34" charset="-122"/>
                <a:cs typeface="思源黑体-思源黑体-Regular" pitchFamily="34" charset="-120"/>
              </a:rPr>
              <a:t>1</a:t>
            </a:r>
            <a:endParaRPr lang="en-US" sz="2320" dirty="0"/>
          </a:p>
        </p:txBody>
      </p:sp>
      <p:sp>
        <p:nvSpPr>
          <p:cNvPr id="10" name="Text 4"/>
          <p:cNvSpPr/>
          <p:nvPr/>
        </p:nvSpPr>
        <p:spPr>
          <a:xfrm>
            <a:off x="7818120" y="3438144"/>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595959"/>
                </a:solidFill>
                <a:latin typeface="思源黑体-思源黑体-Regular" pitchFamily="34" charset="0"/>
                <a:ea typeface="思源黑体-思源黑体-Regular" pitchFamily="34" charset="-122"/>
                <a:cs typeface="思源黑体-思源黑体-Regular" pitchFamily="34" charset="-120"/>
              </a:rPr>
              <a:t>2</a:t>
            </a:r>
            <a:endParaRPr lang="en-US" sz="2320" dirty="0"/>
          </a:p>
        </p:txBody>
      </p:sp>
      <p:sp>
        <p:nvSpPr>
          <p:cNvPr id="11" name="Text 5"/>
          <p:cNvSpPr/>
          <p:nvPr/>
        </p:nvSpPr>
        <p:spPr>
          <a:xfrm>
            <a:off x="7818120" y="5458968"/>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595959"/>
                </a:solidFill>
                <a:latin typeface="思源黑体-思源黑体-Regular" pitchFamily="34" charset="0"/>
                <a:ea typeface="思源黑体-思源黑体-Regular" pitchFamily="34" charset="-122"/>
                <a:cs typeface="思源黑体-思源黑体-Regular" pitchFamily="34" charset="-120"/>
              </a:rPr>
              <a:t>3</a:t>
            </a:r>
            <a:endParaRPr lang="en-US" sz="2320" dirty="0"/>
          </a:p>
        </p:txBody>
      </p:sp>
      <p:sp>
        <p:nvSpPr>
          <p:cNvPr id="12" name="Text 6"/>
          <p:cNvSpPr/>
          <p:nvPr/>
        </p:nvSpPr>
        <p:spPr>
          <a:xfrm>
            <a:off x="9710928" y="2551176"/>
            <a:ext cx="3986784" cy="420624"/>
          </a:xfrm>
          <a:prstGeom prst="rect">
            <a:avLst/>
          </a:prstGeom>
          <a:noFill/>
          <a:ln/>
        </p:spPr>
        <p:txBody>
          <a:bodyPr wrap="none" lIns="0" tIns="0" rIns="0" bIns="0" rtlCol="0" anchor="ctr"/>
          <a:lstStyle/>
          <a:p>
            <a:pPr marL="0" indent="0" algn="l">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Scalability</a:t>
            </a:r>
            <a:endParaRPr lang="en-US" sz="2320" dirty="0"/>
          </a:p>
        </p:txBody>
      </p:sp>
      <p:sp>
        <p:nvSpPr>
          <p:cNvPr id="13" name="Text 7"/>
          <p:cNvSpPr/>
          <p:nvPr/>
        </p:nvSpPr>
        <p:spPr>
          <a:xfrm>
            <a:off x="9710928" y="3236976"/>
            <a:ext cx="3986784" cy="996696"/>
          </a:xfrm>
          <a:prstGeom prst="rect">
            <a:avLst/>
          </a:prstGeom>
          <a:noFill/>
          <a:ln/>
        </p:spPr>
        <p:txBody>
          <a:bodyPr wrap="square" lIns="0" tIns="0" rIns="0" bIns="0" rtlCol="0" anchor="ctr"/>
          <a:lstStyle/>
          <a:p>
            <a:pPr marL="0" indent="0" algn="l">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It offers horizontal scalability through sharding, distributing data across multiple servers.</a:t>
            </a:r>
            <a:endParaRPr lang="en-US" sz="1850" dirty="0"/>
          </a:p>
        </p:txBody>
      </p:sp>
      <p:sp>
        <p:nvSpPr>
          <p:cNvPr id="14" name="Text 8"/>
          <p:cNvSpPr/>
          <p:nvPr/>
        </p:nvSpPr>
        <p:spPr>
          <a:xfrm>
            <a:off x="9710928" y="5111496"/>
            <a:ext cx="3986784" cy="420624"/>
          </a:xfrm>
          <a:prstGeom prst="rect">
            <a:avLst/>
          </a:prstGeom>
          <a:noFill/>
          <a:ln/>
        </p:spPr>
        <p:txBody>
          <a:bodyPr wrap="none" lIns="0" tIns="0" rIns="0" bIns="0" rtlCol="0" anchor="ctr"/>
          <a:lstStyle/>
          <a:p>
            <a:pPr marL="0" indent="0" algn="l">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Rich Query Language</a:t>
            </a:r>
            <a:endParaRPr lang="en-US" sz="2320" dirty="0"/>
          </a:p>
        </p:txBody>
      </p:sp>
      <p:sp>
        <p:nvSpPr>
          <p:cNvPr id="15" name="Text 9"/>
          <p:cNvSpPr/>
          <p:nvPr/>
        </p:nvSpPr>
        <p:spPr>
          <a:xfrm>
            <a:off x="9710928" y="5788152"/>
            <a:ext cx="3986784" cy="996696"/>
          </a:xfrm>
          <a:prstGeom prst="rect">
            <a:avLst/>
          </a:prstGeom>
          <a:noFill/>
          <a:ln/>
        </p:spPr>
        <p:txBody>
          <a:bodyPr wrap="square" lIns="0" tIns="0" rIns="0" bIns="0" rtlCol="0" anchor="ctr"/>
          <a:lstStyle/>
          <a:p>
            <a:pPr marL="0" indent="0" algn="l">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MongoDB supports a powerful query language for complex queries and data manipulation.</a:t>
            </a:r>
            <a:endParaRPr lang="en-US" sz="1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832104" y="3145536"/>
            <a:ext cx="502920" cy="502920"/>
          </a:xfrm>
          <a:prstGeom prst="rect">
            <a:avLst/>
          </a:prstGeom>
        </p:spPr>
      </p:pic>
      <p:pic>
        <p:nvPicPr>
          <p:cNvPr id="5" name="Image 3" descr="preencoded.png"/>
          <p:cNvPicPr>
            <a:picLocks noChangeAspect="1"/>
          </p:cNvPicPr>
          <p:nvPr/>
        </p:nvPicPr>
        <p:blipFill>
          <a:blip r:embed="rId5"/>
          <a:stretch>
            <a:fillRect/>
          </a:stretch>
        </p:blipFill>
        <p:spPr>
          <a:xfrm>
            <a:off x="5257800" y="3145536"/>
            <a:ext cx="502920" cy="502920"/>
          </a:xfrm>
          <a:prstGeom prst="rect">
            <a:avLst/>
          </a:prstGeom>
        </p:spPr>
      </p:pic>
      <p:pic>
        <p:nvPicPr>
          <p:cNvPr id="6" name="Image 4" descr="preencoded.png"/>
          <p:cNvPicPr>
            <a:picLocks noChangeAspect="1"/>
          </p:cNvPicPr>
          <p:nvPr/>
        </p:nvPicPr>
        <p:blipFill>
          <a:blip r:embed="rId5"/>
          <a:stretch>
            <a:fillRect/>
          </a:stretch>
        </p:blipFill>
        <p:spPr>
          <a:xfrm>
            <a:off x="9683496" y="3145536"/>
            <a:ext cx="502920" cy="502920"/>
          </a:xfrm>
          <a:prstGeom prst="rect">
            <a:avLst/>
          </a:prstGeom>
        </p:spPr>
      </p:pic>
      <p:sp>
        <p:nvSpPr>
          <p:cNvPr id="7" name="Text 0"/>
          <p:cNvSpPr/>
          <p:nvPr/>
        </p:nvSpPr>
        <p:spPr>
          <a:xfrm>
            <a:off x="832104" y="1819656"/>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3A6DDA"/>
                </a:solidFill>
                <a:latin typeface="思源黑体-思源黑体-Regular" pitchFamily="34" charset="0"/>
                <a:ea typeface="思源黑体-思源黑体-Regular" pitchFamily="34" charset="-122"/>
                <a:cs typeface="思源黑体-思源黑体-Regular" pitchFamily="34" charset="-120"/>
              </a:rPr>
              <a:t>Express.js Overview</a:t>
            </a:r>
            <a:endParaRPr lang="en-US" sz="4640" dirty="0"/>
          </a:p>
        </p:txBody>
      </p:sp>
      <p:sp>
        <p:nvSpPr>
          <p:cNvPr id="8" name="Text 1"/>
          <p:cNvSpPr/>
          <p:nvPr/>
        </p:nvSpPr>
        <p:spPr>
          <a:xfrm>
            <a:off x="996696" y="3182112"/>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595959"/>
                </a:solidFill>
                <a:latin typeface="思源黑体-思源黑体-Regular" pitchFamily="34" charset="0"/>
                <a:ea typeface="思源黑体-思源黑体-Regular" pitchFamily="34" charset="-122"/>
                <a:cs typeface="思源黑体-思源黑体-Regular" pitchFamily="34" charset="-120"/>
              </a:rPr>
              <a:t>1</a:t>
            </a:r>
            <a:endParaRPr lang="en-US" sz="2320" dirty="0"/>
          </a:p>
        </p:txBody>
      </p:sp>
      <p:sp>
        <p:nvSpPr>
          <p:cNvPr id="9" name="Text 2"/>
          <p:cNvSpPr/>
          <p:nvPr/>
        </p:nvSpPr>
        <p:spPr>
          <a:xfrm>
            <a:off x="1609344" y="3191256"/>
            <a:ext cx="3337560" cy="832104"/>
          </a:xfrm>
          <a:prstGeom prst="rect">
            <a:avLst/>
          </a:prstGeom>
          <a:noFill/>
          <a:ln/>
        </p:spPr>
        <p:txBody>
          <a:bodyPr wrap="square" lIns="0" tIns="0" rIns="0" bIns="0" rtlCol="0" anchor="ctr"/>
          <a:lstStyle/>
          <a:p>
            <a:pPr marL="0" indent="0" algn="l">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Web Application Framework</a:t>
            </a:r>
            <a:endParaRPr lang="en-US" sz="2320" dirty="0"/>
          </a:p>
        </p:txBody>
      </p:sp>
      <p:sp>
        <p:nvSpPr>
          <p:cNvPr id="10" name="Text 3"/>
          <p:cNvSpPr/>
          <p:nvPr/>
        </p:nvSpPr>
        <p:spPr>
          <a:xfrm>
            <a:off x="1609344" y="4160520"/>
            <a:ext cx="3337560" cy="1984248"/>
          </a:xfrm>
          <a:prstGeom prst="rect">
            <a:avLst/>
          </a:prstGeom>
          <a:noFill/>
          <a:ln/>
        </p:spPr>
        <p:txBody>
          <a:bodyPr wrap="square" lIns="0" tIns="0" rIns="0" bIns="0" rtlCol="0" anchor="ctr"/>
          <a:lstStyle/>
          <a:p>
            <a:pPr marL="0" indent="0" algn="l">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Express.js is a minimal and flexible Node.js web application framework that provides a robust set of features for building web and mobile applications.</a:t>
            </a:r>
            <a:endParaRPr lang="en-US" sz="1850" dirty="0"/>
          </a:p>
        </p:txBody>
      </p:sp>
      <p:sp>
        <p:nvSpPr>
          <p:cNvPr id="11" name="Text 4"/>
          <p:cNvSpPr/>
          <p:nvPr/>
        </p:nvSpPr>
        <p:spPr>
          <a:xfrm>
            <a:off x="5422392" y="3182112"/>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595959"/>
                </a:solidFill>
                <a:latin typeface="思源黑体-思源黑体-Regular" pitchFamily="34" charset="0"/>
                <a:ea typeface="思源黑体-思源黑体-Regular" pitchFamily="34" charset="-122"/>
                <a:cs typeface="思源黑体-思源黑体-Regular" pitchFamily="34" charset="-120"/>
              </a:rPr>
              <a:t>2</a:t>
            </a:r>
            <a:endParaRPr lang="en-US" sz="2320" dirty="0"/>
          </a:p>
        </p:txBody>
      </p:sp>
      <p:sp>
        <p:nvSpPr>
          <p:cNvPr id="12" name="Text 5"/>
          <p:cNvSpPr/>
          <p:nvPr/>
        </p:nvSpPr>
        <p:spPr>
          <a:xfrm>
            <a:off x="6035040" y="3191256"/>
            <a:ext cx="3337560" cy="420624"/>
          </a:xfrm>
          <a:prstGeom prst="rect">
            <a:avLst/>
          </a:prstGeom>
          <a:noFill/>
          <a:ln/>
        </p:spPr>
        <p:txBody>
          <a:bodyPr wrap="none" lIns="0" tIns="0" rIns="0" bIns="0" rtlCol="0" anchor="ctr"/>
          <a:lstStyle/>
          <a:p>
            <a:pPr marL="0" indent="0" algn="l">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Middleware Support</a:t>
            </a:r>
            <a:endParaRPr lang="en-US" sz="2320" dirty="0"/>
          </a:p>
        </p:txBody>
      </p:sp>
      <p:sp>
        <p:nvSpPr>
          <p:cNvPr id="13" name="Text 6"/>
          <p:cNvSpPr/>
          <p:nvPr/>
        </p:nvSpPr>
        <p:spPr>
          <a:xfrm>
            <a:off x="6035040" y="3749040"/>
            <a:ext cx="3337560" cy="1984248"/>
          </a:xfrm>
          <a:prstGeom prst="rect">
            <a:avLst/>
          </a:prstGeom>
          <a:noFill/>
          <a:ln/>
        </p:spPr>
        <p:txBody>
          <a:bodyPr wrap="square" lIns="0" tIns="0" rIns="0" bIns="0" rtlCol="0" anchor="ctr"/>
          <a:lstStyle/>
          <a:p>
            <a:pPr marL="0" indent="0" algn="l">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It allows developers to use middleware to handle requests, responses, and various functionalities, thus promoting modular code design.</a:t>
            </a:r>
            <a:endParaRPr lang="en-US" sz="1850" dirty="0"/>
          </a:p>
        </p:txBody>
      </p:sp>
      <p:sp>
        <p:nvSpPr>
          <p:cNvPr id="14" name="Text 7"/>
          <p:cNvSpPr/>
          <p:nvPr/>
        </p:nvSpPr>
        <p:spPr>
          <a:xfrm>
            <a:off x="9848088" y="3182112"/>
            <a:ext cx="173736" cy="438912"/>
          </a:xfrm>
          <a:prstGeom prst="rect">
            <a:avLst/>
          </a:prstGeom>
          <a:noFill/>
          <a:ln/>
        </p:spPr>
        <p:txBody>
          <a:bodyPr wrap="none" lIns="0" tIns="0" rIns="0" bIns="0" rtlCol="0" anchor="ctr"/>
          <a:lstStyle/>
          <a:p>
            <a:pPr marL="0" indent="0" algn="ctr">
              <a:lnSpc>
                <a:spcPts val="2780"/>
              </a:lnSpc>
              <a:buNone/>
            </a:pPr>
            <a:r>
              <a:rPr lang="en-US" sz="2320" dirty="0">
                <a:solidFill>
                  <a:srgbClr val="595959"/>
                </a:solidFill>
                <a:latin typeface="思源黑体-思源黑体-Regular" pitchFamily="34" charset="0"/>
                <a:ea typeface="思源黑体-思源黑体-Regular" pitchFamily="34" charset="-122"/>
                <a:cs typeface="思源黑体-思源黑体-Regular" pitchFamily="34" charset="-120"/>
              </a:rPr>
              <a:t>3</a:t>
            </a:r>
            <a:endParaRPr lang="en-US" sz="2320" dirty="0"/>
          </a:p>
        </p:txBody>
      </p:sp>
      <p:sp>
        <p:nvSpPr>
          <p:cNvPr id="15" name="Text 8"/>
          <p:cNvSpPr/>
          <p:nvPr/>
        </p:nvSpPr>
        <p:spPr>
          <a:xfrm>
            <a:off x="10460736" y="3191256"/>
            <a:ext cx="3337560" cy="420624"/>
          </a:xfrm>
          <a:prstGeom prst="rect">
            <a:avLst/>
          </a:prstGeom>
          <a:noFill/>
          <a:ln/>
        </p:spPr>
        <p:txBody>
          <a:bodyPr wrap="none" lIns="0" tIns="0" rIns="0" bIns="0" rtlCol="0" anchor="ctr"/>
          <a:lstStyle/>
          <a:p>
            <a:pPr marL="0" indent="0" algn="l">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Routing</a:t>
            </a:r>
            <a:endParaRPr lang="en-US" sz="2320" dirty="0"/>
          </a:p>
        </p:txBody>
      </p:sp>
      <p:sp>
        <p:nvSpPr>
          <p:cNvPr id="16" name="Text 9"/>
          <p:cNvSpPr/>
          <p:nvPr/>
        </p:nvSpPr>
        <p:spPr>
          <a:xfrm>
            <a:off x="10460736" y="3749040"/>
            <a:ext cx="3337560" cy="1984248"/>
          </a:xfrm>
          <a:prstGeom prst="rect">
            <a:avLst/>
          </a:prstGeom>
          <a:noFill/>
          <a:ln/>
        </p:spPr>
        <p:txBody>
          <a:bodyPr wrap="square" lIns="0" tIns="0" rIns="0" bIns="0" rtlCol="0" anchor="ctr"/>
          <a:lstStyle/>
          <a:p>
            <a:pPr marL="0" indent="0" algn="l">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Express provides a simple routing mechanism for handling different HTTP methods and URLs, making it easy to define application routes.</a:t>
            </a:r>
            <a:endParaRPr lang="en-US" sz="1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60120" y="2020824"/>
            <a:ext cx="3831336" cy="2532888"/>
          </a:xfrm>
          <a:prstGeom prst="rect">
            <a:avLst/>
          </a:prstGeom>
        </p:spPr>
      </p:pic>
      <p:pic>
        <p:nvPicPr>
          <p:cNvPr id="4" name="Image 2" descr="preencoded.png"/>
          <p:cNvPicPr>
            <a:picLocks noChangeAspect="1"/>
          </p:cNvPicPr>
          <p:nvPr/>
        </p:nvPicPr>
        <p:blipFill>
          <a:blip r:embed="rId5"/>
          <a:stretch>
            <a:fillRect/>
          </a:stretch>
        </p:blipFill>
        <p:spPr>
          <a:xfrm>
            <a:off x="5404104" y="2020824"/>
            <a:ext cx="3831336" cy="2532888"/>
          </a:xfrm>
          <a:prstGeom prst="rect">
            <a:avLst/>
          </a:prstGeom>
        </p:spPr>
      </p:pic>
      <p:pic>
        <p:nvPicPr>
          <p:cNvPr id="5" name="Image 3" descr="preencoded.png"/>
          <p:cNvPicPr>
            <a:picLocks noChangeAspect="1"/>
          </p:cNvPicPr>
          <p:nvPr/>
        </p:nvPicPr>
        <p:blipFill>
          <a:blip r:embed="rId6"/>
          <a:stretch>
            <a:fillRect/>
          </a:stretch>
        </p:blipFill>
        <p:spPr>
          <a:xfrm>
            <a:off x="9848088" y="2020824"/>
            <a:ext cx="3831336" cy="2532888"/>
          </a:xfrm>
          <a:prstGeom prst="rect">
            <a:avLst/>
          </a:prstGeom>
        </p:spPr>
      </p:pic>
      <p:sp>
        <p:nvSpPr>
          <p:cNvPr id="6" name="Text 0"/>
          <p:cNvSpPr/>
          <p:nvPr/>
        </p:nvSpPr>
        <p:spPr>
          <a:xfrm>
            <a:off x="832104" y="795528"/>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3A6DDA"/>
                </a:solidFill>
                <a:latin typeface="思源黑体-思源黑体-Regular" pitchFamily="34" charset="0"/>
                <a:ea typeface="思源黑体-思源黑体-Regular" pitchFamily="34" charset="-122"/>
                <a:cs typeface="思源黑体-思源黑体-Regular" pitchFamily="34" charset="-120"/>
              </a:rPr>
              <a:t>React Overview</a:t>
            </a:r>
            <a:endParaRPr lang="en-US" sz="4640" dirty="0"/>
          </a:p>
        </p:txBody>
      </p:sp>
      <p:sp>
        <p:nvSpPr>
          <p:cNvPr id="7" name="Text 1"/>
          <p:cNvSpPr/>
          <p:nvPr/>
        </p:nvSpPr>
        <p:spPr>
          <a:xfrm>
            <a:off x="960120" y="4782312"/>
            <a:ext cx="3831336" cy="420624"/>
          </a:xfrm>
          <a:prstGeom prst="rect">
            <a:avLst/>
          </a:prstGeom>
          <a:noFill/>
          <a:ln/>
        </p:spPr>
        <p:txBody>
          <a:bodyPr wrap="non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Frontend Library</a:t>
            </a:r>
            <a:endParaRPr lang="en-US" sz="2320" dirty="0"/>
          </a:p>
        </p:txBody>
      </p:sp>
      <p:sp>
        <p:nvSpPr>
          <p:cNvPr id="8" name="Text 2"/>
          <p:cNvSpPr/>
          <p:nvPr/>
        </p:nvSpPr>
        <p:spPr>
          <a:xfrm>
            <a:off x="960120" y="5330952"/>
            <a:ext cx="3831336" cy="1984248"/>
          </a:xfrm>
          <a:prstGeom prst="rect">
            <a:avLst/>
          </a:prstGeom>
          <a:noFill/>
          <a:ln/>
        </p:spPr>
        <p:txBody>
          <a:bodyPr wrap="square" lIns="0" tIns="0" rIns="0" bIns="0" rtlCol="0" anchor="ctr"/>
          <a:lstStyle/>
          <a:p>
            <a:pPr marL="0" indent="0" algn="ct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React is a JavaScript library for building user interfaces, particularly single-page applications where data changes dynamically without refreshing the page.</a:t>
            </a:r>
            <a:endParaRPr lang="en-US" sz="1850" dirty="0"/>
          </a:p>
        </p:txBody>
      </p:sp>
      <p:sp>
        <p:nvSpPr>
          <p:cNvPr id="9" name="Text 3"/>
          <p:cNvSpPr/>
          <p:nvPr/>
        </p:nvSpPr>
        <p:spPr>
          <a:xfrm>
            <a:off x="5404104" y="4782312"/>
            <a:ext cx="3831336" cy="832104"/>
          </a:xfrm>
          <a:prstGeom prst="rect">
            <a:avLst/>
          </a:prstGeom>
          <a:noFill/>
          <a:ln/>
        </p:spPr>
        <p:txBody>
          <a:bodyPr wrap="squar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Component-Based Architecture</a:t>
            </a:r>
            <a:endParaRPr lang="en-US" sz="2320" dirty="0"/>
          </a:p>
        </p:txBody>
      </p:sp>
      <p:sp>
        <p:nvSpPr>
          <p:cNvPr id="10" name="Text 4"/>
          <p:cNvSpPr/>
          <p:nvPr/>
        </p:nvSpPr>
        <p:spPr>
          <a:xfrm>
            <a:off x="5404104" y="5742432"/>
            <a:ext cx="3831336" cy="996696"/>
          </a:xfrm>
          <a:prstGeom prst="rect">
            <a:avLst/>
          </a:prstGeom>
          <a:noFill/>
          <a:ln/>
        </p:spPr>
        <p:txBody>
          <a:bodyPr wrap="square" lIns="0" tIns="0" rIns="0" bIns="0" rtlCol="0" anchor="ctr"/>
          <a:lstStyle/>
          <a:p>
            <a:pPr marL="0" indent="0" algn="ct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It promotes building reusable UI components, enhancing code maintainability and organization.</a:t>
            </a:r>
            <a:endParaRPr lang="en-US" sz="1850" dirty="0"/>
          </a:p>
        </p:txBody>
      </p:sp>
      <p:sp>
        <p:nvSpPr>
          <p:cNvPr id="11" name="Text 5"/>
          <p:cNvSpPr/>
          <p:nvPr/>
        </p:nvSpPr>
        <p:spPr>
          <a:xfrm>
            <a:off x="9848088" y="4782312"/>
            <a:ext cx="3831336" cy="420624"/>
          </a:xfrm>
          <a:prstGeom prst="rect">
            <a:avLst/>
          </a:prstGeom>
          <a:noFill/>
          <a:ln/>
        </p:spPr>
        <p:txBody>
          <a:bodyPr wrap="non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Virtual DOM</a:t>
            </a:r>
            <a:endParaRPr lang="en-US" sz="2320" dirty="0"/>
          </a:p>
        </p:txBody>
      </p:sp>
      <p:sp>
        <p:nvSpPr>
          <p:cNvPr id="12" name="Text 6"/>
          <p:cNvSpPr/>
          <p:nvPr/>
        </p:nvSpPr>
        <p:spPr>
          <a:xfrm>
            <a:off x="9848088" y="5330952"/>
            <a:ext cx="3831336" cy="1655064"/>
          </a:xfrm>
          <a:prstGeom prst="rect">
            <a:avLst/>
          </a:prstGeom>
          <a:noFill/>
          <a:ln/>
        </p:spPr>
        <p:txBody>
          <a:bodyPr wrap="square" lIns="0" tIns="0" rIns="0" bIns="0" rtlCol="0" anchor="ctr"/>
          <a:lstStyle/>
          <a:p>
            <a:pPr marL="0" indent="0" algn="ct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React uses a Virtual DOM to optimize rendering performance, ensuring that only changed components are updated in the browser.</a:t>
            </a:r>
            <a:endParaRPr lang="en-US" sz="1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403336"/>
          </a:xfrm>
          <a:prstGeom prst="rect">
            <a:avLst/>
          </a:prstGeom>
        </p:spPr>
      </p:pic>
      <p:pic>
        <p:nvPicPr>
          <p:cNvPr id="3" name="Image 1" descr="preencoded.png"/>
          <p:cNvPicPr>
            <a:picLocks noChangeAspect="1"/>
          </p:cNvPicPr>
          <p:nvPr/>
        </p:nvPicPr>
        <p:blipFill>
          <a:blip r:embed="rId4"/>
          <a:stretch>
            <a:fillRect/>
          </a:stretch>
        </p:blipFill>
        <p:spPr>
          <a:xfrm>
            <a:off x="5047488" y="3108960"/>
            <a:ext cx="4544568" cy="4544568"/>
          </a:xfrm>
          <a:prstGeom prst="rect">
            <a:avLst/>
          </a:prstGeom>
        </p:spPr>
      </p:pic>
      <p:pic>
        <p:nvPicPr>
          <p:cNvPr id="4" name="Image 2" descr="preencoded.png"/>
          <p:cNvPicPr>
            <a:picLocks noChangeAspect="1"/>
          </p:cNvPicPr>
          <p:nvPr/>
        </p:nvPicPr>
        <p:blipFill>
          <a:blip r:embed="rId5"/>
          <a:stretch>
            <a:fillRect/>
          </a:stretch>
        </p:blipFill>
        <p:spPr>
          <a:xfrm>
            <a:off x="5047488" y="3108960"/>
            <a:ext cx="4544568" cy="4544568"/>
          </a:xfrm>
          <a:prstGeom prst="rect">
            <a:avLst/>
          </a:prstGeom>
        </p:spPr>
      </p:pic>
      <p:pic>
        <p:nvPicPr>
          <p:cNvPr id="5" name="Image 3" descr="preencoded.png"/>
          <p:cNvPicPr>
            <a:picLocks noChangeAspect="1"/>
          </p:cNvPicPr>
          <p:nvPr/>
        </p:nvPicPr>
        <p:blipFill>
          <a:blip r:embed="rId6"/>
          <a:stretch>
            <a:fillRect/>
          </a:stretch>
        </p:blipFill>
        <p:spPr>
          <a:xfrm>
            <a:off x="5047488" y="3108960"/>
            <a:ext cx="4544568" cy="4544568"/>
          </a:xfrm>
          <a:prstGeom prst="rect">
            <a:avLst/>
          </a:prstGeom>
        </p:spPr>
      </p:pic>
      <p:pic>
        <p:nvPicPr>
          <p:cNvPr id="6" name="Image 4" descr="preencoded.png"/>
          <p:cNvPicPr>
            <a:picLocks noChangeAspect="1"/>
          </p:cNvPicPr>
          <p:nvPr/>
        </p:nvPicPr>
        <p:blipFill>
          <a:blip r:embed="rId7"/>
          <a:stretch>
            <a:fillRect/>
          </a:stretch>
        </p:blipFill>
        <p:spPr>
          <a:xfrm>
            <a:off x="4544568" y="4791456"/>
            <a:ext cx="1188720" cy="1188720"/>
          </a:xfrm>
          <a:prstGeom prst="rect">
            <a:avLst/>
          </a:prstGeom>
        </p:spPr>
      </p:pic>
      <p:pic>
        <p:nvPicPr>
          <p:cNvPr id="7" name="Image 5" descr="preencoded.png"/>
          <p:cNvPicPr>
            <a:picLocks noChangeAspect="1"/>
          </p:cNvPicPr>
          <p:nvPr/>
        </p:nvPicPr>
        <p:blipFill>
          <a:blip r:embed="rId7"/>
          <a:stretch>
            <a:fillRect/>
          </a:stretch>
        </p:blipFill>
        <p:spPr>
          <a:xfrm>
            <a:off x="7827264" y="2898648"/>
            <a:ext cx="1188720" cy="1188720"/>
          </a:xfrm>
          <a:prstGeom prst="rect">
            <a:avLst/>
          </a:prstGeom>
        </p:spPr>
      </p:pic>
      <p:pic>
        <p:nvPicPr>
          <p:cNvPr id="8" name="Image 6" descr="preencoded.png"/>
          <p:cNvPicPr>
            <a:picLocks noChangeAspect="1"/>
          </p:cNvPicPr>
          <p:nvPr/>
        </p:nvPicPr>
        <p:blipFill>
          <a:blip r:embed="rId7"/>
          <a:stretch>
            <a:fillRect/>
          </a:stretch>
        </p:blipFill>
        <p:spPr>
          <a:xfrm>
            <a:off x="7827264" y="6684264"/>
            <a:ext cx="1188720" cy="1188720"/>
          </a:xfrm>
          <a:prstGeom prst="rect">
            <a:avLst/>
          </a:prstGeom>
        </p:spPr>
      </p:pic>
      <p:sp>
        <p:nvSpPr>
          <p:cNvPr id="9" name="Text 0"/>
          <p:cNvSpPr/>
          <p:nvPr/>
        </p:nvSpPr>
        <p:spPr>
          <a:xfrm>
            <a:off x="832104" y="649224"/>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3A6DDA"/>
                </a:solidFill>
                <a:latin typeface="思源黑体-思源黑体-Regular" pitchFamily="34" charset="0"/>
                <a:ea typeface="思源黑体-思源黑体-Regular" pitchFamily="34" charset="-122"/>
                <a:cs typeface="思源黑体-思源黑体-Regular" pitchFamily="34" charset="-120"/>
              </a:rPr>
              <a:t>Node.js Overview</a:t>
            </a:r>
            <a:endParaRPr lang="en-US" sz="4640" dirty="0"/>
          </a:p>
        </p:txBody>
      </p:sp>
      <p:sp>
        <p:nvSpPr>
          <p:cNvPr id="10" name="Text 1"/>
          <p:cNvSpPr/>
          <p:nvPr/>
        </p:nvSpPr>
        <p:spPr>
          <a:xfrm>
            <a:off x="832104" y="1746504"/>
            <a:ext cx="12984480" cy="996696"/>
          </a:xfrm>
          <a:prstGeom prst="rect">
            <a:avLst/>
          </a:prstGeom>
          <a:noFill/>
          <a:ln/>
        </p:spPr>
        <p:txBody>
          <a:bodyPr wrap="square" lIns="0" tIns="0" rIns="0" bIns="0" rtlCol="0" anchor="ctr"/>
          <a:lstStyle/>
          <a:p>
            <a:pPr marL="0" indent="0" algn="l">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Node.js is a powerful tool for developers, enabling JavaScript to be used on the server-side. Its event-driven architecture facilitates efficient handling of numerous connections, while npm provides access to a wide array of libraries that enhance development speed.</a:t>
            </a:r>
            <a:endParaRPr lang="en-US" sz="1850" dirty="0"/>
          </a:p>
        </p:txBody>
      </p:sp>
      <p:sp>
        <p:nvSpPr>
          <p:cNvPr id="11" name="Text 2"/>
          <p:cNvSpPr/>
          <p:nvPr/>
        </p:nvSpPr>
        <p:spPr>
          <a:xfrm>
            <a:off x="950976" y="4544568"/>
            <a:ext cx="3511296" cy="420624"/>
          </a:xfrm>
          <a:prstGeom prst="rect">
            <a:avLst/>
          </a:prstGeom>
          <a:noFill/>
          <a:ln/>
        </p:spPr>
        <p:txBody>
          <a:bodyPr wrap="none" lIns="0" tIns="0" rIns="0" bIns="0" rtlCol="0" anchor="ctr"/>
          <a:lstStyle/>
          <a:p>
            <a:pPr marL="0" indent="0" algn="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JavaScript Runtime</a:t>
            </a:r>
            <a:endParaRPr lang="en-US" sz="2320" dirty="0"/>
          </a:p>
        </p:txBody>
      </p:sp>
      <p:sp>
        <p:nvSpPr>
          <p:cNvPr id="12" name="Text 3"/>
          <p:cNvSpPr/>
          <p:nvPr/>
        </p:nvSpPr>
        <p:spPr>
          <a:xfrm>
            <a:off x="950976" y="5221224"/>
            <a:ext cx="3511296" cy="996696"/>
          </a:xfrm>
          <a:prstGeom prst="rect">
            <a:avLst/>
          </a:prstGeom>
          <a:noFill/>
          <a:ln/>
        </p:spPr>
        <p:txBody>
          <a:bodyPr wrap="square" lIns="0" tIns="0" rIns="0" bIns="0" rtlCol="0" anchor="ctr"/>
          <a:lstStyle/>
          <a:p>
            <a:pPr marL="0" indent="0" algn="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Run JavaScript on the server-side for full-stack development.</a:t>
            </a:r>
            <a:endParaRPr lang="en-US" sz="1850" dirty="0"/>
          </a:p>
        </p:txBody>
      </p:sp>
      <p:sp>
        <p:nvSpPr>
          <p:cNvPr id="13" name="Text 4"/>
          <p:cNvSpPr/>
          <p:nvPr/>
        </p:nvSpPr>
        <p:spPr>
          <a:xfrm>
            <a:off x="5047488" y="5166360"/>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595959"/>
                </a:solidFill>
                <a:latin typeface="思源黑体-思源黑体-Regular" pitchFamily="34" charset="0"/>
                <a:ea typeface="思源黑体-思源黑体-Regular" pitchFamily="34" charset="-122"/>
                <a:cs typeface="思源黑体-思源黑体-Regular" pitchFamily="34" charset="-120"/>
              </a:rPr>
              <a:t>1</a:t>
            </a:r>
            <a:endParaRPr lang="en-US" sz="2320" dirty="0"/>
          </a:p>
        </p:txBody>
      </p:sp>
      <p:sp>
        <p:nvSpPr>
          <p:cNvPr id="14" name="Text 5"/>
          <p:cNvSpPr/>
          <p:nvPr/>
        </p:nvSpPr>
        <p:spPr>
          <a:xfrm>
            <a:off x="8330184" y="3264408"/>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595959"/>
                </a:solidFill>
                <a:latin typeface="思源黑体-思源黑体-Regular" pitchFamily="34" charset="0"/>
                <a:ea typeface="思源黑体-思源黑体-Regular" pitchFamily="34" charset="-122"/>
                <a:cs typeface="思源黑体-思源黑体-Regular" pitchFamily="34" charset="-120"/>
              </a:rPr>
              <a:t>2</a:t>
            </a:r>
            <a:endParaRPr lang="en-US" sz="2320" dirty="0"/>
          </a:p>
        </p:txBody>
      </p:sp>
      <p:sp>
        <p:nvSpPr>
          <p:cNvPr id="15" name="Text 6"/>
          <p:cNvSpPr/>
          <p:nvPr/>
        </p:nvSpPr>
        <p:spPr>
          <a:xfrm>
            <a:off x="9710928" y="3264408"/>
            <a:ext cx="3986784" cy="420624"/>
          </a:xfrm>
          <a:prstGeom prst="rect">
            <a:avLst/>
          </a:prstGeom>
          <a:noFill/>
          <a:ln/>
        </p:spPr>
        <p:txBody>
          <a:bodyPr wrap="none" lIns="0" tIns="0" rIns="0" bIns="0" rtlCol="0" anchor="ctr"/>
          <a:lstStyle/>
          <a:p>
            <a:pPr marL="0" indent="0" algn="l">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Event-Driven Architecture</a:t>
            </a:r>
            <a:endParaRPr lang="en-US" sz="2320" dirty="0"/>
          </a:p>
        </p:txBody>
      </p:sp>
      <p:sp>
        <p:nvSpPr>
          <p:cNvPr id="16" name="Text 7"/>
          <p:cNvSpPr/>
          <p:nvPr/>
        </p:nvSpPr>
        <p:spPr>
          <a:xfrm>
            <a:off x="9710928" y="3941064"/>
            <a:ext cx="3986784" cy="996696"/>
          </a:xfrm>
          <a:prstGeom prst="rect">
            <a:avLst/>
          </a:prstGeom>
          <a:noFill/>
          <a:ln/>
        </p:spPr>
        <p:txBody>
          <a:bodyPr wrap="square" lIns="0" tIns="0" rIns="0" bIns="0" rtlCol="0" anchor="ctr"/>
          <a:lstStyle/>
          <a:p>
            <a:pPr marL="0" indent="0" algn="l">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Efficiently handle multiple connections with a non-blocking I/O model.</a:t>
            </a:r>
            <a:endParaRPr lang="en-US" sz="1850" dirty="0"/>
          </a:p>
        </p:txBody>
      </p:sp>
      <p:sp>
        <p:nvSpPr>
          <p:cNvPr id="17" name="Text 8"/>
          <p:cNvSpPr/>
          <p:nvPr/>
        </p:nvSpPr>
        <p:spPr>
          <a:xfrm>
            <a:off x="8330184" y="7059168"/>
            <a:ext cx="173736" cy="438912"/>
          </a:xfrm>
          <a:prstGeom prst="rect">
            <a:avLst/>
          </a:prstGeom>
          <a:noFill/>
          <a:ln/>
        </p:spPr>
        <p:txBody>
          <a:bodyPr wrap="none" lIns="0" tIns="0" rIns="0" bIns="0" rtlCol="0" anchor="ctr"/>
          <a:lstStyle/>
          <a:p>
            <a:pPr marL="0" indent="0" algn="l">
              <a:lnSpc>
                <a:spcPts val="2780"/>
              </a:lnSpc>
              <a:buNone/>
            </a:pPr>
            <a:r>
              <a:rPr lang="en-US" sz="2320" dirty="0">
                <a:solidFill>
                  <a:srgbClr val="595959"/>
                </a:solidFill>
                <a:latin typeface="思源黑体-思源黑体-Regular" pitchFamily="34" charset="0"/>
                <a:ea typeface="思源黑体-思源黑体-Regular" pitchFamily="34" charset="-122"/>
                <a:cs typeface="思源黑体-思源黑体-Regular" pitchFamily="34" charset="-120"/>
              </a:rPr>
              <a:t>3</a:t>
            </a:r>
            <a:endParaRPr lang="en-US" sz="2320" dirty="0"/>
          </a:p>
        </p:txBody>
      </p:sp>
      <p:sp>
        <p:nvSpPr>
          <p:cNvPr id="18" name="Text 9"/>
          <p:cNvSpPr/>
          <p:nvPr/>
        </p:nvSpPr>
        <p:spPr>
          <a:xfrm>
            <a:off x="9710928" y="5824728"/>
            <a:ext cx="3986784" cy="420624"/>
          </a:xfrm>
          <a:prstGeom prst="rect">
            <a:avLst/>
          </a:prstGeom>
          <a:noFill/>
          <a:ln/>
        </p:spPr>
        <p:txBody>
          <a:bodyPr wrap="none" lIns="0" tIns="0" rIns="0" bIns="0" rtlCol="0" anchor="ctr"/>
          <a:lstStyle/>
          <a:p>
            <a:pPr marL="0" indent="0" algn="l">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Package Management</a:t>
            </a:r>
            <a:endParaRPr lang="en-US" sz="2320" dirty="0"/>
          </a:p>
        </p:txBody>
      </p:sp>
      <p:sp>
        <p:nvSpPr>
          <p:cNvPr id="19" name="Text 10"/>
          <p:cNvSpPr/>
          <p:nvPr/>
        </p:nvSpPr>
        <p:spPr>
          <a:xfrm>
            <a:off x="9710928" y="6501384"/>
            <a:ext cx="3986784" cy="996696"/>
          </a:xfrm>
          <a:prstGeom prst="rect">
            <a:avLst/>
          </a:prstGeom>
          <a:noFill/>
          <a:ln/>
        </p:spPr>
        <p:txBody>
          <a:bodyPr wrap="square" lIns="0" tIns="0" rIns="0" bIns="0" rtlCol="0" anchor="ctr"/>
          <a:lstStyle/>
          <a:p>
            <a:pPr marL="0" indent="0" algn="l">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Access thousands of libraries through npm for rapid development.</a:t>
            </a:r>
            <a:endParaRPr lang="en-US" sz="1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9409176" y="0"/>
            <a:ext cx="5230368" cy="8238744"/>
          </a:xfrm>
          <a:prstGeom prst="rect">
            <a:avLst/>
          </a:prstGeom>
        </p:spPr>
      </p:pic>
      <p:pic>
        <p:nvPicPr>
          <p:cNvPr id="4" name="Image 2" descr="preencoded.png"/>
          <p:cNvPicPr>
            <a:picLocks noChangeAspect="1"/>
          </p:cNvPicPr>
          <p:nvPr/>
        </p:nvPicPr>
        <p:blipFill>
          <a:blip r:embed="rId5"/>
          <a:stretch>
            <a:fillRect/>
          </a:stretch>
        </p:blipFill>
        <p:spPr>
          <a:xfrm>
            <a:off x="832104" y="3118104"/>
            <a:ext cx="2514600" cy="3666744"/>
          </a:xfrm>
          <a:prstGeom prst="rect">
            <a:avLst/>
          </a:prstGeom>
        </p:spPr>
      </p:pic>
      <p:pic>
        <p:nvPicPr>
          <p:cNvPr id="5" name="Image 3" descr="preencoded.png"/>
          <p:cNvPicPr>
            <a:picLocks noChangeAspect="1"/>
          </p:cNvPicPr>
          <p:nvPr/>
        </p:nvPicPr>
        <p:blipFill>
          <a:blip r:embed="rId5"/>
          <a:stretch>
            <a:fillRect/>
          </a:stretch>
        </p:blipFill>
        <p:spPr>
          <a:xfrm>
            <a:off x="3575304" y="3118104"/>
            <a:ext cx="2514600" cy="3666744"/>
          </a:xfrm>
          <a:prstGeom prst="rect">
            <a:avLst/>
          </a:prstGeom>
        </p:spPr>
      </p:pic>
      <p:pic>
        <p:nvPicPr>
          <p:cNvPr id="6" name="Image 4" descr="preencoded.png"/>
          <p:cNvPicPr>
            <a:picLocks noChangeAspect="1"/>
          </p:cNvPicPr>
          <p:nvPr/>
        </p:nvPicPr>
        <p:blipFill>
          <a:blip r:embed="rId5"/>
          <a:stretch>
            <a:fillRect/>
          </a:stretch>
        </p:blipFill>
        <p:spPr>
          <a:xfrm>
            <a:off x="6327648" y="3118104"/>
            <a:ext cx="2514600" cy="3666744"/>
          </a:xfrm>
          <a:prstGeom prst="rect">
            <a:avLst/>
          </a:prstGeom>
        </p:spPr>
      </p:pic>
      <p:sp>
        <p:nvSpPr>
          <p:cNvPr id="7" name="Text 0"/>
          <p:cNvSpPr/>
          <p:nvPr/>
        </p:nvSpPr>
        <p:spPr>
          <a:xfrm>
            <a:off x="832104" y="1197864"/>
            <a:ext cx="8010144" cy="1655064"/>
          </a:xfrm>
          <a:prstGeom prst="rect">
            <a:avLst/>
          </a:prstGeom>
          <a:noFill/>
          <a:ln/>
        </p:spPr>
        <p:txBody>
          <a:bodyPr wrap="square" lIns="0" tIns="0" rIns="0" bIns="0" rtlCol="0" anchor="ctr"/>
          <a:lstStyle/>
          <a:p>
            <a:pPr marL="0" indent="0" algn="l">
              <a:lnSpc>
                <a:spcPts val="6500"/>
              </a:lnSpc>
              <a:buNone/>
            </a:pPr>
            <a:r>
              <a:rPr lang="en-US" sz="4640" dirty="0">
                <a:solidFill>
                  <a:srgbClr val="3A6DDA"/>
                </a:solidFill>
                <a:latin typeface="思源黑体-思源黑体-Regular" pitchFamily="34" charset="0"/>
                <a:ea typeface="思源黑体-思源黑体-Regular" pitchFamily="34" charset="-122"/>
                <a:cs typeface="思源黑体-思源黑体-Regular" pitchFamily="34" charset="-120"/>
              </a:rPr>
              <a:t>Benefits of Using MERN Stack</a:t>
            </a:r>
            <a:endParaRPr lang="en-US" sz="4640" dirty="0"/>
          </a:p>
        </p:txBody>
      </p:sp>
      <p:sp>
        <p:nvSpPr>
          <p:cNvPr id="8" name="Text 1"/>
          <p:cNvSpPr/>
          <p:nvPr/>
        </p:nvSpPr>
        <p:spPr>
          <a:xfrm>
            <a:off x="1097280" y="3264408"/>
            <a:ext cx="1984248" cy="832104"/>
          </a:xfrm>
          <a:prstGeom prst="rect">
            <a:avLst/>
          </a:prstGeom>
          <a:noFill/>
          <a:ln/>
        </p:spPr>
        <p:txBody>
          <a:bodyPr wrap="squar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Full-Stack JavaScript</a:t>
            </a:r>
            <a:endParaRPr lang="en-US" sz="2320" dirty="0"/>
          </a:p>
        </p:txBody>
      </p:sp>
      <p:sp>
        <p:nvSpPr>
          <p:cNvPr id="9" name="Text 2"/>
          <p:cNvSpPr/>
          <p:nvPr/>
        </p:nvSpPr>
        <p:spPr>
          <a:xfrm>
            <a:off x="1097280" y="4233672"/>
            <a:ext cx="1984248" cy="2313432"/>
          </a:xfrm>
          <a:prstGeom prst="rect">
            <a:avLst/>
          </a:prstGeom>
          <a:noFill/>
          <a:ln/>
        </p:spPr>
        <p:txBody>
          <a:bodyPr wrap="square" lIns="0" tIns="0" rIns="0" bIns="0" rtlCol="0" anchor="ctr"/>
          <a:lstStyle/>
          <a:p>
            <a:pPr marL="0" indent="0" algn="ct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A unified language across the stack simplifies development and enhances collaboration.</a:t>
            </a:r>
            <a:endParaRPr lang="en-US" sz="1850" dirty="0"/>
          </a:p>
        </p:txBody>
      </p:sp>
      <p:sp>
        <p:nvSpPr>
          <p:cNvPr id="10" name="Text 3"/>
          <p:cNvSpPr/>
          <p:nvPr/>
        </p:nvSpPr>
        <p:spPr>
          <a:xfrm>
            <a:off x="3840480" y="3264408"/>
            <a:ext cx="1984248" cy="832104"/>
          </a:xfrm>
          <a:prstGeom prst="rect">
            <a:avLst/>
          </a:prstGeom>
          <a:noFill/>
          <a:ln/>
        </p:spPr>
        <p:txBody>
          <a:bodyPr wrap="squar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Rapid Development</a:t>
            </a:r>
            <a:endParaRPr lang="en-US" sz="2320" dirty="0"/>
          </a:p>
        </p:txBody>
      </p:sp>
      <p:sp>
        <p:nvSpPr>
          <p:cNvPr id="11" name="Text 4"/>
          <p:cNvSpPr/>
          <p:nvPr/>
        </p:nvSpPr>
        <p:spPr>
          <a:xfrm>
            <a:off x="3840480" y="4233672"/>
            <a:ext cx="1984248" cy="1655064"/>
          </a:xfrm>
          <a:prstGeom prst="rect">
            <a:avLst/>
          </a:prstGeom>
          <a:noFill/>
          <a:ln/>
        </p:spPr>
        <p:txBody>
          <a:bodyPr wrap="square" lIns="0" tIns="0" rIns="0" bIns="0" rtlCol="0" anchor="ctr"/>
          <a:lstStyle/>
          <a:p>
            <a:pPr marL="0" indent="0" algn="ct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Powerful tools allow faster prototyping and development cycles.</a:t>
            </a:r>
            <a:endParaRPr lang="en-US" sz="1850" dirty="0"/>
          </a:p>
        </p:txBody>
      </p:sp>
      <p:sp>
        <p:nvSpPr>
          <p:cNvPr id="12" name="Text 5"/>
          <p:cNvSpPr/>
          <p:nvPr/>
        </p:nvSpPr>
        <p:spPr>
          <a:xfrm>
            <a:off x="6592824" y="3264408"/>
            <a:ext cx="1984248" cy="1243584"/>
          </a:xfrm>
          <a:prstGeom prst="rect">
            <a:avLst/>
          </a:prstGeom>
          <a:noFill/>
          <a:ln/>
        </p:spPr>
        <p:txBody>
          <a:bodyPr wrap="squar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Strong Community Support</a:t>
            </a:r>
            <a:endParaRPr lang="en-US" sz="2320" dirty="0"/>
          </a:p>
        </p:txBody>
      </p:sp>
      <p:sp>
        <p:nvSpPr>
          <p:cNvPr id="13" name="Text 6"/>
          <p:cNvSpPr/>
          <p:nvPr/>
        </p:nvSpPr>
        <p:spPr>
          <a:xfrm>
            <a:off x="6592824" y="4645152"/>
            <a:ext cx="1984248" cy="1984248"/>
          </a:xfrm>
          <a:prstGeom prst="rect">
            <a:avLst/>
          </a:prstGeom>
          <a:noFill/>
          <a:ln/>
        </p:spPr>
        <p:txBody>
          <a:bodyPr wrap="square" lIns="0" tIns="0" rIns="0" bIns="0" rtlCol="0" anchor="ctr"/>
          <a:lstStyle/>
          <a:p>
            <a:pPr marL="0" indent="0" algn="ct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Large community and extensive documentation make resource access easier.</a:t>
            </a:r>
            <a:endParaRPr lang="en-US" sz="1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pic>
        <p:nvPicPr>
          <p:cNvPr id="4" name="Image 2" descr="preencoded.png"/>
          <p:cNvPicPr>
            <a:picLocks noChangeAspect="1"/>
          </p:cNvPicPr>
          <p:nvPr/>
        </p:nvPicPr>
        <p:blipFill>
          <a:blip r:embed="rId5"/>
          <a:stretch>
            <a:fillRect/>
          </a:stretch>
        </p:blipFill>
        <p:spPr>
          <a:xfrm>
            <a:off x="832104" y="3236976"/>
            <a:ext cx="4169664" cy="2587752"/>
          </a:xfrm>
          <a:prstGeom prst="rect">
            <a:avLst/>
          </a:prstGeom>
        </p:spPr>
      </p:pic>
      <p:pic>
        <p:nvPicPr>
          <p:cNvPr id="5" name="Image 3" descr="preencoded.png"/>
          <p:cNvPicPr>
            <a:picLocks noChangeAspect="1"/>
          </p:cNvPicPr>
          <p:nvPr/>
        </p:nvPicPr>
        <p:blipFill>
          <a:blip r:embed="rId5"/>
          <a:stretch>
            <a:fillRect/>
          </a:stretch>
        </p:blipFill>
        <p:spPr>
          <a:xfrm>
            <a:off x="5239512" y="3236976"/>
            <a:ext cx="4169664" cy="2587752"/>
          </a:xfrm>
          <a:prstGeom prst="rect">
            <a:avLst/>
          </a:prstGeom>
        </p:spPr>
      </p:pic>
      <p:pic>
        <p:nvPicPr>
          <p:cNvPr id="6" name="Image 4" descr="preencoded.png"/>
          <p:cNvPicPr>
            <a:picLocks noChangeAspect="1"/>
          </p:cNvPicPr>
          <p:nvPr/>
        </p:nvPicPr>
        <p:blipFill>
          <a:blip r:embed="rId5"/>
          <a:stretch>
            <a:fillRect/>
          </a:stretch>
        </p:blipFill>
        <p:spPr>
          <a:xfrm>
            <a:off x="9637776" y="3236976"/>
            <a:ext cx="4169664" cy="2587752"/>
          </a:xfrm>
          <a:prstGeom prst="rect">
            <a:avLst/>
          </a:prstGeom>
        </p:spPr>
      </p:pic>
      <p:sp>
        <p:nvSpPr>
          <p:cNvPr id="7" name="Text 0"/>
          <p:cNvSpPr/>
          <p:nvPr/>
        </p:nvSpPr>
        <p:spPr>
          <a:xfrm>
            <a:off x="832104" y="2148840"/>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3A6DDA"/>
                </a:solidFill>
                <a:latin typeface="思源黑体-思源黑体-Regular" pitchFamily="34" charset="0"/>
                <a:ea typeface="思源黑体-思源黑体-Regular" pitchFamily="34" charset="-122"/>
                <a:cs typeface="思源黑体-思源黑体-Regular" pitchFamily="34" charset="-120"/>
              </a:rPr>
              <a:t>Use Cases and Applications of MERN Stack</a:t>
            </a:r>
            <a:endParaRPr lang="en-US" sz="4640" dirty="0"/>
          </a:p>
        </p:txBody>
      </p:sp>
      <p:sp>
        <p:nvSpPr>
          <p:cNvPr id="8" name="Text 1"/>
          <p:cNvSpPr/>
          <p:nvPr/>
        </p:nvSpPr>
        <p:spPr>
          <a:xfrm>
            <a:off x="1097280" y="3392424"/>
            <a:ext cx="3639312" cy="832104"/>
          </a:xfrm>
          <a:prstGeom prst="rect">
            <a:avLst/>
          </a:prstGeom>
          <a:noFill/>
          <a:ln/>
        </p:spPr>
        <p:txBody>
          <a:bodyPr wrap="squar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Single Page Applications (SPAs)</a:t>
            </a:r>
            <a:endParaRPr lang="en-US" sz="2320" dirty="0"/>
          </a:p>
        </p:txBody>
      </p:sp>
      <p:sp>
        <p:nvSpPr>
          <p:cNvPr id="9" name="Text 2"/>
          <p:cNvSpPr/>
          <p:nvPr/>
        </p:nvSpPr>
        <p:spPr>
          <a:xfrm>
            <a:off x="1097280" y="4352544"/>
            <a:ext cx="3639312" cy="1325880"/>
          </a:xfrm>
          <a:prstGeom prst="rect">
            <a:avLst/>
          </a:prstGeom>
          <a:noFill/>
          <a:ln/>
        </p:spPr>
        <p:txBody>
          <a:bodyPr wrap="square" lIns="0" tIns="0" rIns="0" bIns="0" rtlCol="0" anchor="ctr"/>
          <a:lstStyle/>
          <a:p>
            <a:pPr marL="0" indent="0" algn="ct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MERN is ideal for SPAs where a smooth and fast user experience is crucial, such as social media platforms.</a:t>
            </a:r>
            <a:endParaRPr lang="en-US" sz="1850" dirty="0"/>
          </a:p>
        </p:txBody>
      </p:sp>
      <p:sp>
        <p:nvSpPr>
          <p:cNvPr id="10" name="Text 3"/>
          <p:cNvSpPr/>
          <p:nvPr/>
        </p:nvSpPr>
        <p:spPr>
          <a:xfrm>
            <a:off x="5504688" y="3392424"/>
            <a:ext cx="3639312" cy="420624"/>
          </a:xfrm>
          <a:prstGeom prst="rect">
            <a:avLst/>
          </a:prstGeom>
          <a:noFill/>
          <a:ln/>
        </p:spPr>
        <p:txBody>
          <a:bodyPr wrap="non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Real-Time Applications</a:t>
            </a:r>
            <a:endParaRPr lang="en-US" sz="2320" dirty="0"/>
          </a:p>
        </p:txBody>
      </p:sp>
      <p:sp>
        <p:nvSpPr>
          <p:cNvPr id="11" name="Text 4"/>
          <p:cNvSpPr/>
          <p:nvPr/>
        </p:nvSpPr>
        <p:spPr>
          <a:xfrm>
            <a:off x="5504688" y="3941064"/>
            <a:ext cx="3639312" cy="1325880"/>
          </a:xfrm>
          <a:prstGeom prst="rect">
            <a:avLst/>
          </a:prstGeom>
          <a:noFill/>
          <a:ln/>
        </p:spPr>
        <p:txBody>
          <a:bodyPr wrap="square" lIns="0" tIns="0" rIns="0" bIns="0" rtlCol="0" anchor="ctr"/>
          <a:lstStyle/>
          <a:p>
            <a:pPr marL="0" indent="0" algn="ct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Applications like chat apps and collaborative tools benefit from the stack's ability to handle real-time data updates.</a:t>
            </a:r>
            <a:endParaRPr lang="en-US" sz="1850" dirty="0"/>
          </a:p>
        </p:txBody>
      </p:sp>
      <p:sp>
        <p:nvSpPr>
          <p:cNvPr id="12" name="Text 5"/>
          <p:cNvSpPr/>
          <p:nvPr/>
        </p:nvSpPr>
        <p:spPr>
          <a:xfrm>
            <a:off x="9902952" y="3392424"/>
            <a:ext cx="3639312" cy="420624"/>
          </a:xfrm>
          <a:prstGeom prst="rect">
            <a:avLst/>
          </a:prstGeom>
          <a:noFill/>
          <a:ln/>
        </p:spPr>
        <p:txBody>
          <a:bodyPr wrap="none" lIns="0" tIns="0" rIns="0" bIns="0" rtlCol="0" anchor="ctr"/>
          <a:lstStyle/>
          <a:p>
            <a:pPr marL="0" indent="0" algn="ctr">
              <a:lnSpc>
                <a:spcPts val="3250"/>
              </a:lnSpc>
              <a:buNone/>
            </a:pPr>
            <a:r>
              <a:rPr lang="en-US" sz="2320" dirty="0">
                <a:solidFill>
                  <a:srgbClr val="17171C"/>
                </a:solidFill>
                <a:latin typeface="思源黑体-思源黑体-Regular" pitchFamily="34" charset="0"/>
                <a:ea typeface="思源黑体-思源黑体-Regular" pitchFamily="34" charset="-122"/>
                <a:cs typeface="思源黑体-思源黑体-Regular" pitchFamily="34" charset="-120"/>
              </a:rPr>
              <a:t>E-commerce Platforms</a:t>
            </a:r>
            <a:endParaRPr lang="en-US" sz="2320" dirty="0"/>
          </a:p>
        </p:txBody>
      </p:sp>
      <p:sp>
        <p:nvSpPr>
          <p:cNvPr id="13" name="Text 6"/>
          <p:cNvSpPr/>
          <p:nvPr/>
        </p:nvSpPr>
        <p:spPr>
          <a:xfrm>
            <a:off x="9902952" y="3941064"/>
            <a:ext cx="3639312" cy="1325880"/>
          </a:xfrm>
          <a:prstGeom prst="rect">
            <a:avLst/>
          </a:prstGeom>
          <a:noFill/>
          <a:ln/>
        </p:spPr>
        <p:txBody>
          <a:bodyPr wrap="square" lIns="0" tIns="0" rIns="0" bIns="0" rtlCol="0" anchor="ctr"/>
          <a:lstStyle/>
          <a:p>
            <a:pPr marL="0" indent="0" algn="ctr">
              <a:lnSpc>
                <a:spcPts val="2600"/>
              </a:lnSpc>
              <a:buNone/>
            </a:pPr>
            <a:r>
              <a:rPr lang="en-US" sz="1850" dirty="0">
                <a:solidFill>
                  <a:srgbClr val="17171C"/>
                </a:solidFill>
                <a:latin typeface="思源黑体-思源黑体-Regular" pitchFamily="34" charset="0"/>
                <a:ea typeface="思源黑体-思源黑体-Regular" pitchFamily="34" charset="-122"/>
                <a:cs typeface="思源黑体-思源黑体-Regular" pitchFamily="34" charset="-120"/>
              </a:rPr>
              <a:t>The flexibility and scalability of the MERN stack make it suitable for building complex e-commerce solutions.</a:t>
            </a:r>
            <a:endParaRPr lang="en-US" sz="1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sp>
        <p:nvSpPr>
          <p:cNvPr id="3" name="Text 0"/>
          <p:cNvSpPr/>
          <p:nvPr/>
        </p:nvSpPr>
        <p:spPr>
          <a:xfrm>
            <a:off x="832104" y="3703320"/>
            <a:ext cx="12984480" cy="832104"/>
          </a:xfrm>
          <a:prstGeom prst="rect">
            <a:avLst/>
          </a:prstGeom>
          <a:noFill/>
          <a:ln/>
        </p:spPr>
        <p:txBody>
          <a:bodyPr wrap="none" lIns="0" tIns="0" rIns="0" bIns="0" rtlCol="0" anchor="ctr"/>
          <a:lstStyle/>
          <a:p>
            <a:pPr marL="0" indent="0" algn="l">
              <a:lnSpc>
                <a:spcPts val="6500"/>
              </a:lnSpc>
              <a:buNone/>
            </a:pPr>
            <a:r>
              <a:rPr lang="en-US" sz="4640" dirty="0">
                <a:solidFill>
                  <a:srgbClr val="3A6DDA"/>
                </a:solidFill>
                <a:latin typeface="思源黑体-思源黑体-Regular" pitchFamily="34" charset="0"/>
                <a:ea typeface="思源黑体-思源黑体-Regular" pitchFamily="34" charset="-122"/>
                <a:cs typeface="思源黑体-思源黑体-Regular" pitchFamily="34" charset="-120"/>
              </a:rPr>
              <a:t>Thank You</a:t>
            </a:r>
            <a:endParaRPr lang="en-US" sz="464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TotalTime>
  <Words>732</Words>
  <Application>Microsoft Office PowerPoint</Application>
  <PresentationFormat>Custom</PresentationFormat>
  <Paragraphs>98</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思源黑体-思源黑体-Regular</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Rahul Kamat</cp:lastModifiedBy>
  <cp:revision>2</cp:revision>
  <dcterms:created xsi:type="dcterms:W3CDTF">2025-08-01T10:17:38Z</dcterms:created>
  <dcterms:modified xsi:type="dcterms:W3CDTF">2025-08-01T10:31:34Z</dcterms:modified>
</cp:coreProperties>
</file>